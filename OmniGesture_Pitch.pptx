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9B4FA"/>
                </a:solidFill>
                <a:latin typeface="Segoe UI"/>
              </a:defRPr>
            </a:pPr>
            <a:r>
              <a:t>OmniGesture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DD6F4"/>
                </a:solidFill>
                <a:latin typeface="Segoe UI"/>
              </a:defRPr>
            </a:pPr>
            <a:r>
              <a:t>AI-Powered Hands-Free PC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6E3A1"/>
                </a:solidFill>
                <a:latin typeface="Segoe UI"/>
              </a:defRPr>
            </a:pPr>
            <a:r>
              <a:t>Built for Snapdragon-Powered HP PCs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086"/>
                </a:solidFill>
                <a:latin typeface="Segoe UI"/>
              </a:defRPr>
            </a:pPr>
            <a:r>
              <a:t>Snapdragon AI Lab Build &amp; Present Challenge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8BA8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086"/>
                </a:solidFill>
                <a:latin typeface="Segoe UI"/>
              </a:defRPr>
            </a:pPr>
            <a:r>
              <a:t>Standard PC navigation is not accessible to everyone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B387"/>
                </a:solidFill>
                <a:latin typeface="Segoe UI"/>
              </a:defRPr>
            </a:pPr>
            <a:r>
              <a:t>&gt;&gt;  1.3B+ people worldwide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9659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Segoe UI"/>
              </a:defRPr>
            </a:pPr>
            <a:r>
              <a:t>live with disabilities affecting motor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B387"/>
                </a:solidFill>
                <a:latin typeface="Segoe UI"/>
              </a:defRPr>
            </a:pPr>
            <a:r>
              <a:t>&gt;&gt;  Assistive hardware costs $1,500-$10,000+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432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Segoe UI"/>
              </a:defRPr>
            </a:pPr>
            <a:r>
              <a:t>making it inaccessible in developing economies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B387"/>
                </a:solidFill>
                <a:latin typeface="Segoe UI"/>
              </a:defRPr>
            </a:pPr>
            <a:r>
              <a:t>&gt;&gt;  Cloud AI tracking has 200-500ms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5204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Segoe UI"/>
              </a:defRPr>
            </a:pPr>
            <a:r>
              <a:t>making real-time cursor control impossible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76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B387"/>
                </a:solidFill>
                <a:latin typeface="Segoe UI"/>
              </a:defRPr>
            </a:pPr>
            <a:r>
              <a:t>&gt;&gt;  Streaming video to cloud servers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297679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Segoe UI"/>
              </a:defRPr>
            </a:pPr>
            <a:r>
              <a:t>creates massive privacy violations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B387"/>
                </a:solidFill>
                <a:latin typeface="Segoe UI"/>
              </a:defRPr>
            </a:pPr>
            <a:r>
              <a:t>&gt;&gt;  Heavy GPU models drain batteries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074919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Segoe UI"/>
              </a:defRPr>
            </a:pPr>
            <a:r>
              <a:t>and cause thermal throttling on laptops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6E3A1"/>
                </a:solidFill>
                <a:latin typeface="Segoe UI"/>
              </a:defRPr>
            </a:pPr>
            <a:r>
              <a:t>The Solution: OmniGesture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086"/>
                </a:solidFill>
                <a:latin typeface="Segoe UI"/>
              </a:defRPr>
            </a:pPr>
            <a:r>
              <a:t>Turn your webcam into a zero-latency gesture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  <a:latin typeface="Segoe UI"/>
              </a:defRPr>
            </a:pPr>
            <a:r>
              <a:t>Point (Index 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Move 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Segoe UI"/>
              </a:defRPr>
            </a:pPr>
            <a:r>
              <a:t>Pinch (Thumb+Index)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Left Click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BA6F7"/>
                </a:solidFill>
                <a:latin typeface="Segoe UI"/>
              </a:defRPr>
            </a:pPr>
            <a:r>
              <a:t>Peace (Index+Middle)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Double Click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8BA8"/>
                </a:solidFill>
                <a:latin typeface="Segoe UI"/>
              </a:defRPr>
            </a:pPr>
            <a:r>
              <a:t>Fist (All Closed)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Right Click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B387"/>
                </a:solidFill>
                <a:latin typeface="Segoe UI"/>
              </a:defRPr>
            </a:pPr>
            <a:r>
              <a:t>Open Palm (All Up)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Scroll Up/Down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E2AF"/>
                </a:solidFill>
                <a:latin typeface="Segoe UI"/>
              </a:defRPr>
            </a:pPr>
            <a:r>
              <a:t>Thumbs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519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6F4"/>
                </a:solidFill>
                <a:latin typeface="Segoe UI"/>
              </a:defRPr>
            </a:pPr>
            <a:r>
              <a:t>Toggle Drag 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086"/>
                </a:solidFill>
                <a:latin typeface="Segoe UI"/>
              </a:defRPr>
            </a:pPr>
            <a:r>
              <a:t>Plus: Dark-themed Control Panel | Live FPS Counter | Sensitivity Slider | Activity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9B4FA"/>
                </a:solidFill>
                <a:latin typeface="Segoe UI"/>
              </a:defRPr>
            </a:pPr>
            <a:r>
              <a:t>Why Snapdragon?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086"/>
                </a:solidFill>
                <a:latin typeface="Segoe UI"/>
              </a:defRPr>
            </a:pPr>
            <a:r>
              <a:t>Edge AI is not optional for real-time gesture control - it is mandatory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7086"/>
                </a:solidFill>
                <a:latin typeface="Segoe U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1148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8BA8"/>
                </a:solidFill>
                <a:latin typeface="Segoe UI"/>
              </a:defRPr>
            </a:pPr>
            <a:r>
              <a:t>Cloud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6E3A1"/>
                </a:solidFill>
                <a:latin typeface="Segoe UI"/>
              </a:defRPr>
            </a:pPr>
            <a:r>
              <a:t>Snapdragon Edge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DD6F4"/>
                </a:solidFill>
                <a:latin typeface="Segoe UI"/>
              </a:defRPr>
            </a:pPr>
            <a:r>
              <a:t>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38BA8"/>
                </a:solidFill>
                <a:latin typeface="Segoe UI"/>
              </a:defRPr>
            </a:pPr>
            <a:r>
              <a:t>200-500ms (unusable)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6E3A1"/>
                </a:solidFill>
                <a:latin typeface="Segoe UI"/>
              </a:defRPr>
            </a:pPr>
            <a:r>
              <a:t>&lt;15ms (fluid)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DD6F4"/>
                </a:solidFill>
                <a:latin typeface="Segoe UI"/>
              </a:defRPr>
            </a:pPr>
            <a:r>
              <a:t>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38BA8"/>
                </a:solidFill>
                <a:latin typeface="Segoe UI"/>
              </a:defRPr>
            </a:pPr>
            <a:r>
              <a:t>Video sent to servers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6E3A1"/>
                </a:solidFill>
                <a:latin typeface="Segoe UI"/>
              </a:defRPr>
            </a:pPr>
            <a:r>
              <a:t>100% on-device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918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DD6F4"/>
                </a:solidFill>
                <a:latin typeface="Segoe UI"/>
              </a:defRPr>
            </a:pPr>
            <a:r>
              <a:t>Internet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918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38BA8"/>
                </a:solidFill>
                <a:latin typeface="Segoe UI"/>
              </a:defRPr>
            </a:pPr>
            <a:r>
              <a:t>Required always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2918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6E3A1"/>
                </a:solidFill>
                <a:latin typeface="Segoe UI"/>
              </a:defRPr>
            </a:pPr>
            <a:r>
              <a:t>Fully offline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947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DD6F4"/>
                </a:solidFill>
                <a:latin typeface="Segoe UI"/>
              </a:defRPr>
            </a:pPr>
            <a:r>
              <a:t>Battery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7947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38BA8"/>
                </a:solidFill>
                <a:latin typeface="Segoe UI"/>
              </a:defRPr>
            </a:pPr>
            <a:r>
              <a:t>Heavy drain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7947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6E3A1"/>
                </a:solidFill>
                <a:latin typeface="Segoe UI"/>
              </a:defRPr>
            </a:pPr>
            <a:r>
              <a:t>NPU-optimized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DD6F4"/>
                </a:solidFill>
                <a:latin typeface="Segoe UI"/>
              </a:defRPr>
            </a:pPr>
            <a: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2976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38BA8"/>
                </a:solidFill>
                <a:latin typeface="Segoe UI"/>
              </a:defRPr>
            </a:pPr>
            <a:r>
              <a:t>Per-API-call charges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2976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6E3A1"/>
                </a:solidFill>
                <a:latin typeface="Segoe UI"/>
              </a:defRPr>
            </a:pPr>
            <a:r>
              <a:t>Free forever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BA6F7"/>
                </a:solidFill>
                <a:latin typeface="Segoe UI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E2AF"/>
                </a:solidFill>
                <a:latin typeface="Consolas"/>
              </a:defRPr>
            </a:pPr>
            <a:r>
              <a:t>HP Webcam  --&gt;  OpenCV 4.10  --&gt;  MediaPipe HandLandmarker  --&gt;  Gesture Engine  --&gt;  PyAutoGUI  --&gt;  OS Mouse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B4FA"/>
                </a:solidFill>
                <a:latin typeface="Segoe UI"/>
              </a:defRPr>
            </a:pPr>
            <a:r>
              <a:t>MediaPipe Tasks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22860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Segoe UI"/>
              </a:defRPr>
            </a:pPr>
            <a:r>
              <a:t>Open-source edge AI model detecting 21 hand landmarks at 30+ FPS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B4FA"/>
                </a:solidFill>
                <a:latin typeface="Segoe UI"/>
              </a:defRPr>
            </a:pPr>
            <a:r>
              <a:t>Gesture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7889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Segoe UI"/>
              </a:defRPr>
            </a:pPr>
            <a:r>
              <a:t>Finger state vectors (tip vs PIP elevation) + Euclidean pinch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B4FA"/>
                </a:solidFill>
                <a:latin typeface="Segoe UI"/>
              </a:defRPr>
            </a:pPr>
            <a:r>
              <a:t>EMA Cursor Smoothing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2918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Segoe UI"/>
              </a:defRPr>
            </a:pPr>
            <a:r>
              <a:t>Exponential Moving Average filter eliminates tremors and micro-jitter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947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B4FA"/>
                </a:solidFill>
                <a:latin typeface="Segoe UI"/>
              </a:defRPr>
            </a:pPr>
            <a:r>
              <a:t>Multi-threaded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79475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Segoe UI"/>
              </a:defRPr>
            </a:pPr>
            <a:r>
              <a:t>Vision engine runs in background thread; Tkinter UI on main thread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B4FA"/>
                </a:solidFill>
                <a:latin typeface="Segoe UI"/>
              </a:defRPr>
            </a:pPr>
            <a:r>
              <a:t>Temporal Cooldowns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29767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Segoe UI"/>
              </a:defRPr>
            </a:pPr>
            <a:r>
              <a:t>State machine prevents accidental double-triggers during transitions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0059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B4FA"/>
                </a:solidFill>
                <a:latin typeface="Segoe UI"/>
              </a:defRPr>
            </a:pPr>
            <a:r>
              <a:t>Adjustable Sensitivity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80059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DD6F4"/>
                </a:solidFill>
                <a:latin typeface="Segoe UI"/>
              </a:defRPr>
            </a:pPr>
            <a:r>
              <a:t>User-configurable smoothing factor via slider (1-10 range)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086"/>
                </a:solidFill>
                <a:latin typeface="Segoe UI"/>
              </a:defRPr>
            </a:pPr>
            <a:r>
              <a:t>Tech Stack: Python 3.10+ | MediaPipe (Open Source) | OpenCV 4.10 | PyAutoGUI | Tkinter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B387"/>
                </a:solidFill>
                <a:latin typeface="Segoe UI"/>
              </a:defRPr>
            </a:pPr>
            <a:r>
              <a:t>Live Demo &amp;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9B4FA"/>
                </a:solidFill>
                <a:latin typeface="Segoe UI"/>
              </a:defRPr>
            </a:pPr>
            <a:r>
              <a:t>Camera View (Hand Tracking HUD)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377440"/>
            <a:ext cx="4114800" cy="3200400"/>
          </a:xfrm>
          <a:prstGeom prst="rect">
            <a:avLst/>
          </a:prstGeom>
          <a:solidFill>
            <a:srgbClr val="313244"/>
          </a:solidFill>
          <a:ln w="254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086"/>
                </a:solidFill>
                <a:latin typeface="Segoe UI"/>
              </a:defRPr>
            </a:pPr>
            <a:r>
              <a:t>[Insert Camera Screenshot Here]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6E3A1"/>
                </a:solidFill>
                <a:latin typeface="Segoe UI"/>
              </a:defRPr>
            </a:pPr>
            <a:r>
              <a:t>Tkinter Control Panel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377440"/>
            <a:ext cx="4114800" cy="3200400"/>
          </a:xfrm>
          <a:prstGeom prst="rect">
            <a:avLst/>
          </a:prstGeom>
          <a:solidFill>
            <a:srgbClr val="313244"/>
          </a:solidFill>
          <a:ln w="2540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086"/>
                </a:solidFill>
                <a:latin typeface="Segoe UI"/>
              </a:defRPr>
            </a:pPr>
            <a:r>
              <a:t>[Insert Control Panel Screenshot Here]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C7086"/>
                </a:solidFill>
                <a:latin typeface="Segoe UI"/>
              </a:defRPr>
            </a:pPr>
            <a:r>
              <a:t>Both windows run simultaneously - Camera HUD shows landmarks, Control Panel shows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9E2AF"/>
                </a:solidFill>
                <a:latin typeface="Segoe UI"/>
              </a:defRPr>
            </a:pPr>
            <a:r>
              <a:t>Future Roadmap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Segoe UI"/>
              </a:defRPr>
            </a:pPr>
            <a:r>
              <a:t>Phase 1: Qualcomm AI Hub NPU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Segoe UI"/>
              </a:defRPr>
            </a:pPr>
            <a:r>
              <a:t>Compile and INT8-quantize the hand landmark model for the Snapdragon Hexagon NPU via Qualcomm AI Hub. Target: sub-watt inference with near-zero CPU overhead.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Segoe UI"/>
              </a:defRPr>
            </a:pPr>
            <a:r>
              <a:t>Phase 2: Custom Gesture Macro 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718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Segoe UI"/>
              </a:defRPr>
            </a:pPr>
            <a:r>
              <a:t>Allow users to record custom hand poses and map them to any keyboard shortcut or system action (e.g., Peace Sign = Copy, Swipe Left = Switch Window).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BA6F7"/>
                </a:solidFill>
                <a:latin typeface="Segoe UI"/>
              </a:defRPr>
            </a:pPr>
            <a:r>
              <a:t>Phase 3: Multimodal Head &amp; Gaze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605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DD6F4"/>
                </a:solidFill>
                <a:latin typeface="Segoe UI"/>
              </a:defRPr>
            </a:pPr>
            <a:r>
              <a:t>Add head-pose estimation and iris gaze tracking for users with severe mobility impairments who cannot use their hands at all (e.g., quadriplegia).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6E3A1"/>
                </a:solidFill>
                <a:latin typeface="Segoe UI"/>
              </a:defRPr>
            </a:pPr>
            <a:r>
              <a:t>OmniGesture makes every Snapdragon HP PC universally accessible - no extra hardware, no cloud, no compromise.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086"/>
                </a:solidFill>
                <a:latin typeface="Segoe UI"/>
              </a:defRPr>
            </a:pPr>
            <a:r>
              <a:t>Thank You! | GitHub: github.com/sumitbodal/OmniGesture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